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grandir Wide Bold" charset="1" panose="00000805000000000000"/>
      <p:regular r:id="rId16"/>
    </p:embeddedFont>
    <p:embeddedFont>
      <p:font typeface="Arial Nova Condensed" charset="1" panose="020B0506020202020204"/>
      <p:regular r:id="rId17"/>
    </p:embeddedFont>
    <p:embeddedFont>
      <p:font typeface="Times New Roman MT" charset="1" panose="02030502070405020303"/>
      <p:regular r:id="rId18"/>
    </p:embeddedFont>
    <p:embeddedFont>
      <p:font typeface="Times New Roman MT Bold" charset="1" panose="02030802070405020303"/>
      <p:regular r:id="rId19"/>
    </p:embeddedFont>
    <p:embeddedFont>
      <p:font typeface="Telegraf Bold" charset="1" panose="00000800000000000000"/>
      <p:regular r:id="rId20"/>
    </p:embeddedFont>
    <p:embeddedFont>
      <p:font typeface="Arial Nova Condensed Bold" charset="1" panose="020B0806020202020204"/>
      <p:regular r:id="rId21"/>
    </p:embeddedFont>
    <p:embeddedFont>
      <p:font typeface="Canva Sans Bold" charset="1" panose="020B08030305010401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sv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jpeg" Type="http://schemas.openxmlformats.org/officeDocument/2006/relationships/image"/><Relationship Id="rId7" Target="../media/image22.png" Type="http://schemas.openxmlformats.org/officeDocument/2006/relationships/image"/><Relationship Id="rId8" Target="../media/image23.sv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277" t="-71681" r="0" b="-13114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06478" y="1356870"/>
            <a:ext cx="14875044" cy="4555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75"/>
              </a:lnSpc>
            </a:pPr>
            <a:r>
              <a:rPr lang="en-US" b="true" sz="17853">
                <a:solidFill>
                  <a:srgbClr val="E5E5E5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LOCATION SYNC</a:t>
            </a:r>
          </a:p>
        </p:txBody>
      </p:sp>
      <p:sp>
        <p:nvSpPr>
          <p:cNvPr name="AutoShape 4" id="4"/>
          <p:cNvSpPr/>
          <p:nvPr/>
        </p:nvSpPr>
        <p:spPr>
          <a:xfrm>
            <a:off x="0" y="1038225"/>
            <a:ext cx="18288000" cy="0"/>
          </a:xfrm>
          <a:prstGeom prst="line">
            <a:avLst/>
          </a:prstGeom>
          <a:ln cap="flat" w="38100">
            <a:solidFill>
              <a:srgbClr val="E5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922475" y="2489603"/>
            <a:ext cx="1063799" cy="1102382"/>
          </a:xfrm>
          <a:custGeom>
            <a:avLst/>
            <a:gdLst/>
            <a:ahLst/>
            <a:cxnLst/>
            <a:rect r="r" b="b" t="t" l="l"/>
            <a:pathLst>
              <a:path h="1102382" w="1063799">
                <a:moveTo>
                  <a:pt x="0" y="0"/>
                </a:moveTo>
                <a:lnTo>
                  <a:pt x="1063799" y="0"/>
                </a:lnTo>
                <a:lnTo>
                  <a:pt x="1063799" y="1102382"/>
                </a:lnTo>
                <a:lnTo>
                  <a:pt x="0" y="11023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972082" y="6311517"/>
            <a:ext cx="1063799" cy="1102382"/>
          </a:xfrm>
          <a:custGeom>
            <a:avLst/>
            <a:gdLst/>
            <a:ahLst/>
            <a:cxnLst/>
            <a:rect r="r" b="b" t="t" l="l"/>
            <a:pathLst>
              <a:path h="1102382" w="1063799">
                <a:moveTo>
                  <a:pt x="0" y="0"/>
                </a:moveTo>
                <a:lnTo>
                  <a:pt x="1063799" y="0"/>
                </a:lnTo>
                <a:lnTo>
                  <a:pt x="1063799" y="1102382"/>
                </a:lnTo>
                <a:lnTo>
                  <a:pt x="0" y="11023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654076" y="8935107"/>
            <a:ext cx="979847" cy="195969"/>
          </a:xfrm>
          <a:custGeom>
            <a:avLst/>
            <a:gdLst/>
            <a:ahLst/>
            <a:cxnLst/>
            <a:rect r="r" b="b" t="t" l="l"/>
            <a:pathLst>
              <a:path h="195969" w="979847">
                <a:moveTo>
                  <a:pt x="0" y="0"/>
                </a:moveTo>
                <a:lnTo>
                  <a:pt x="979848" y="0"/>
                </a:lnTo>
                <a:lnTo>
                  <a:pt x="979848" y="195969"/>
                </a:lnTo>
                <a:lnTo>
                  <a:pt x="0" y="1959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454375" y="5687947"/>
            <a:ext cx="13379250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spc="-91">
                <a:solidFill>
                  <a:srgbClr val="E5E5E5"/>
                </a:solidFill>
                <a:latin typeface="Arial Nova Condensed"/>
                <a:ea typeface="Arial Nova Condensed"/>
                <a:cs typeface="Arial Nova Condensed"/>
                <a:sym typeface="Arial Nova Condensed"/>
              </a:rPr>
              <a:t>Location-aware </a:t>
            </a:r>
            <a:r>
              <a:rPr lang="en-US" sz="3399" spc="-91">
                <a:solidFill>
                  <a:srgbClr val="E5E5E5"/>
                </a:solidFill>
                <a:latin typeface="Arial Nova Condensed"/>
                <a:ea typeface="Arial Nova Condensed"/>
                <a:cs typeface="Arial Nova Condensed"/>
                <a:sym typeface="Arial Nova Condensed"/>
              </a:rPr>
              <a:t>remote content management for moving and static displays</a:t>
            </a:r>
          </a:p>
          <a:p>
            <a:pPr algn="r">
              <a:lnSpc>
                <a:spcPts val="475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574234"/>
            <a:ext cx="2851350" cy="710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5"/>
              </a:lnSpc>
            </a:pPr>
            <a:r>
              <a:rPr lang="en-US" sz="3399" spc="-91">
                <a:solidFill>
                  <a:srgbClr val="E5E5E5"/>
                </a:solidFill>
                <a:latin typeface="Arial Nova Condensed"/>
                <a:ea typeface="Arial Nova Condensed"/>
                <a:cs typeface="Arial Nova Condensed"/>
                <a:sym typeface="Arial Nova Condensed"/>
              </a:rPr>
              <a:t>Right content. Right place.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54375" y="6496407"/>
            <a:ext cx="1337925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spc="-91">
                <a:solidFill>
                  <a:srgbClr val="E5E5E5"/>
                </a:solidFill>
                <a:latin typeface="Arial Nova Condensed"/>
                <a:ea typeface="Arial Nova Condensed"/>
                <a:cs typeface="Arial Nova Condensed"/>
                <a:sym typeface="Arial Nova Condensed"/>
              </a:rPr>
              <a:t>Blackbox hackathon problem statement 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1047750"/>
            <a:ext cx="18288000" cy="0"/>
          </a:xfrm>
          <a:prstGeom prst="line">
            <a:avLst/>
          </a:prstGeom>
          <a:ln cap="flat" w="38100">
            <a:solidFill>
              <a:srgbClr val="E5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654076" y="8935107"/>
            <a:ext cx="979847" cy="195969"/>
          </a:xfrm>
          <a:custGeom>
            <a:avLst/>
            <a:gdLst/>
            <a:ahLst/>
            <a:cxnLst/>
            <a:rect r="r" b="b" t="t" l="l"/>
            <a:pathLst>
              <a:path h="195969" w="979847">
                <a:moveTo>
                  <a:pt x="0" y="0"/>
                </a:moveTo>
                <a:lnTo>
                  <a:pt x="979848" y="0"/>
                </a:lnTo>
                <a:lnTo>
                  <a:pt x="979848" y="195969"/>
                </a:lnTo>
                <a:lnTo>
                  <a:pt x="0" y="19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81699" y="3994981"/>
            <a:ext cx="3930260" cy="3890074"/>
            <a:chOff x="0" y="0"/>
            <a:chExt cx="5240347" cy="5186766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1554162"/>
              <a:ext cx="5240347" cy="3632604"/>
              <a:chOff x="0" y="0"/>
              <a:chExt cx="1035130" cy="717551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035130" cy="717551"/>
              </a:xfrm>
              <a:custGeom>
                <a:avLst/>
                <a:gdLst/>
                <a:ahLst/>
                <a:cxnLst/>
                <a:rect r="r" b="b" t="t" l="l"/>
                <a:pathLst>
                  <a:path h="717551" w="1035130">
                    <a:moveTo>
                      <a:pt x="37427" y="0"/>
                    </a:moveTo>
                    <a:lnTo>
                      <a:pt x="997704" y="0"/>
                    </a:lnTo>
                    <a:cubicBezTo>
                      <a:pt x="1007630" y="0"/>
                      <a:pt x="1017149" y="3943"/>
                      <a:pt x="1024168" y="10962"/>
                    </a:cubicBezTo>
                    <a:cubicBezTo>
                      <a:pt x="1031187" y="17981"/>
                      <a:pt x="1035130" y="27500"/>
                      <a:pt x="1035130" y="37427"/>
                    </a:cubicBezTo>
                    <a:lnTo>
                      <a:pt x="1035130" y="680125"/>
                    </a:lnTo>
                    <a:cubicBezTo>
                      <a:pt x="1035130" y="690051"/>
                      <a:pt x="1031187" y="699570"/>
                      <a:pt x="1024168" y="706589"/>
                    </a:cubicBezTo>
                    <a:cubicBezTo>
                      <a:pt x="1017149" y="713608"/>
                      <a:pt x="1007630" y="717551"/>
                      <a:pt x="997704" y="717551"/>
                    </a:cubicBezTo>
                    <a:lnTo>
                      <a:pt x="37427" y="717551"/>
                    </a:lnTo>
                    <a:cubicBezTo>
                      <a:pt x="27500" y="717551"/>
                      <a:pt x="17981" y="713608"/>
                      <a:pt x="10962" y="706589"/>
                    </a:cubicBezTo>
                    <a:cubicBezTo>
                      <a:pt x="3943" y="699570"/>
                      <a:pt x="0" y="690051"/>
                      <a:pt x="0" y="680125"/>
                    </a:cubicBezTo>
                    <a:lnTo>
                      <a:pt x="0" y="37427"/>
                    </a:lnTo>
                    <a:cubicBezTo>
                      <a:pt x="0" y="27500"/>
                      <a:pt x="3943" y="17981"/>
                      <a:pt x="10962" y="10962"/>
                    </a:cubicBezTo>
                    <a:cubicBezTo>
                      <a:pt x="17981" y="3943"/>
                      <a:pt x="27500" y="0"/>
                      <a:pt x="37427" y="0"/>
                    </a:cubicBezTo>
                    <a:close/>
                  </a:path>
                </a:pathLst>
              </a:custGeom>
              <a:solidFill>
                <a:srgbClr val="DE6A2B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035130" cy="7556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0"/>
              <a:ext cx="5240347" cy="1668357"/>
              <a:chOff x="0" y="0"/>
              <a:chExt cx="1035130" cy="329552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035130" cy="329552"/>
              </a:xfrm>
              <a:custGeom>
                <a:avLst/>
                <a:gdLst/>
                <a:ahLst/>
                <a:cxnLst/>
                <a:rect r="r" b="b" t="t" l="l"/>
                <a:pathLst>
                  <a:path h="329552" w="1035130">
                    <a:moveTo>
                      <a:pt x="37427" y="0"/>
                    </a:moveTo>
                    <a:lnTo>
                      <a:pt x="997704" y="0"/>
                    </a:lnTo>
                    <a:cubicBezTo>
                      <a:pt x="1007630" y="0"/>
                      <a:pt x="1017149" y="3943"/>
                      <a:pt x="1024168" y="10962"/>
                    </a:cubicBezTo>
                    <a:cubicBezTo>
                      <a:pt x="1031187" y="17981"/>
                      <a:pt x="1035130" y="27500"/>
                      <a:pt x="1035130" y="37427"/>
                    </a:cubicBezTo>
                    <a:lnTo>
                      <a:pt x="1035130" y="292125"/>
                    </a:lnTo>
                    <a:cubicBezTo>
                      <a:pt x="1035130" y="302052"/>
                      <a:pt x="1031187" y="311571"/>
                      <a:pt x="1024168" y="318590"/>
                    </a:cubicBezTo>
                    <a:cubicBezTo>
                      <a:pt x="1017149" y="325609"/>
                      <a:pt x="1007630" y="329552"/>
                      <a:pt x="997704" y="329552"/>
                    </a:cubicBezTo>
                    <a:lnTo>
                      <a:pt x="37427" y="329552"/>
                    </a:lnTo>
                    <a:cubicBezTo>
                      <a:pt x="27500" y="329552"/>
                      <a:pt x="17981" y="325609"/>
                      <a:pt x="10962" y="318590"/>
                    </a:cubicBezTo>
                    <a:cubicBezTo>
                      <a:pt x="3943" y="311571"/>
                      <a:pt x="0" y="302052"/>
                      <a:pt x="0" y="292125"/>
                    </a:cubicBezTo>
                    <a:lnTo>
                      <a:pt x="0" y="37427"/>
                    </a:lnTo>
                    <a:cubicBezTo>
                      <a:pt x="0" y="27500"/>
                      <a:pt x="3943" y="17981"/>
                      <a:pt x="10962" y="10962"/>
                    </a:cubicBezTo>
                    <a:cubicBezTo>
                      <a:pt x="17981" y="3943"/>
                      <a:pt x="27500" y="0"/>
                      <a:pt x="37427" y="0"/>
                    </a:cubicBezTo>
                    <a:close/>
                  </a:path>
                </a:pathLst>
              </a:custGeom>
              <a:solidFill>
                <a:srgbClr val="E5E5E5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035130" cy="36765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1" id="11"/>
          <p:cNvSpPr/>
          <p:nvPr/>
        </p:nvSpPr>
        <p:spPr>
          <a:xfrm flipH="false" flipV="false" rot="0">
            <a:off x="10761183" y="1432465"/>
            <a:ext cx="1087378" cy="1087378"/>
          </a:xfrm>
          <a:custGeom>
            <a:avLst/>
            <a:gdLst/>
            <a:ahLst/>
            <a:cxnLst/>
            <a:rect r="r" b="b" t="t" l="l"/>
            <a:pathLst>
              <a:path h="1087378" w="1087378">
                <a:moveTo>
                  <a:pt x="0" y="0"/>
                </a:moveTo>
                <a:lnTo>
                  <a:pt x="1087378" y="0"/>
                </a:lnTo>
                <a:lnTo>
                  <a:pt x="1087378" y="1087378"/>
                </a:lnTo>
                <a:lnTo>
                  <a:pt x="0" y="10873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921154" y="5862940"/>
            <a:ext cx="2851350" cy="777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5"/>
              </a:lnSpc>
            </a:pPr>
            <a:r>
              <a:rPr lang="en-US" sz="3399" spc="-91">
                <a:solidFill>
                  <a:srgbClr val="E5E5E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manual updates do not scale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91199" y="1575340"/>
            <a:ext cx="10883287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99"/>
              </a:lnSpc>
            </a:pPr>
            <a:r>
              <a:rPr lang="en-US" sz="9999">
                <a:solidFill>
                  <a:srgbClr val="E5E5E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PROBLEM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135505" y="5469905"/>
            <a:ext cx="2355716" cy="707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7"/>
              </a:lnSpc>
            </a:pPr>
            <a:r>
              <a:rPr lang="en-US" b="true" sz="4773">
                <a:solidFill>
                  <a:srgbClr val="121212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20.9%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68971" y="4362207"/>
            <a:ext cx="2355716" cy="707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7"/>
              </a:lnSpc>
            </a:pPr>
            <a:r>
              <a:rPr lang="en-US" b="true" sz="4773">
                <a:solidFill>
                  <a:srgbClr val="121212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SCALE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38345" y="2524322"/>
            <a:ext cx="6413305" cy="789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sz="2300">
                <a:solidFill>
                  <a:srgbClr val="E5E5E5"/>
                </a:solidFill>
                <a:latin typeface="Arial Nova Condensed"/>
                <a:ea typeface="Arial Nova Condensed"/>
                <a:cs typeface="Arial Nova Condensed"/>
                <a:sym typeface="Arial Nova Condensed"/>
              </a:rPr>
              <a:t>Many </a:t>
            </a:r>
            <a:r>
              <a:rPr lang="en-US" sz="2300">
                <a:solidFill>
                  <a:srgbClr val="E5E5E5"/>
                </a:solidFill>
                <a:latin typeface="Arial Nova Condensed"/>
                <a:ea typeface="Arial Nova Condensed"/>
                <a:cs typeface="Arial Nova Condensed"/>
                <a:sym typeface="Arial Nova Condensed"/>
              </a:rPr>
              <a:t>displays, many places, some of them moving</a:t>
            </a:r>
          </a:p>
          <a:p>
            <a:pPr algn="just">
              <a:lnSpc>
                <a:spcPts val="3220"/>
              </a:lnSpc>
            </a:pPr>
          </a:p>
        </p:txBody>
      </p:sp>
      <p:grpSp>
        <p:nvGrpSpPr>
          <p:cNvPr name="Group 17" id="17"/>
          <p:cNvGrpSpPr/>
          <p:nvPr/>
        </p:nvGrpSpPr>
        <p:grpSpPr>
          <a:xfrm rot="0">
            <a:off x="7178870" y="4003923"/>
            <a:ext cx="3930260" cy="3890074"/>
            <a:chOff x="0" y="0"/>
            <a:chExt cx="5240347" cy="5186766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1554162"/>
              <a:ext cx="5240347" cy="3632604"/>
              <a:chOff x="0" y="0"/>
              <a:chExt cx="1035130" cy="717551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035130" cy="717551"/>
              </a:xfrm>
              <a:custGeom>
                <a:avLst/>
                <a:gdLst/>
                <a:ahLst/>
                <a:cxnLst/>
                <a:rect r="r" b="b" t="t" l="l"/>
                <a:pathLst>
                  <a:path h="717551" w="1035130">
                    <a:moveTo>
                      <a:pt x="35457" y="0"/>
                    </a:moveTo>
                    <a:lnTo>
                      <a:pt x="999673" y="0"/>
                    </a:lnTo>
                    <a:cubicBezTo>
                      <a:pt x="1019256" y="0"/>
                      <a:pt x="1035130" y="15875"/>
                      <a:pt x="1035130" y="35457"/>
                    </a:cubicBezTo>
                    <a:lnTo>
                      <a:pt x="1035130" y="682095"/>
                    </a:lnTo>
                    <a:cubicBezTo>
                      <a:pt x="1035130" y="701677"/>
                      <a:pt x="1019256" y="717551"/>
                      <a:pt x="999673" y="717551"/>
                    </a:cubicBezTo>
                    <a:lnTo>
                      <a:pt x="35457" y="717551"/>
                    </a:lnTo>
                    <a:cubicBezTo>
                      <a:pt x="15875" y="717551"/>
                      <a:pt x="0" y="701677"/>
                      <a:pt x="0" y="682095"/>
                    </a:cubicBezTo>
                    <a:lnTo>
                      <a:pt x="0" y="35457"/>
                    </a:lnTo>
                    <a:cubicBezTo>
                      <a:pt x="0" y="15875"/>
                      <a:pt x="15875" y="0"/>
                      <a:pt x="35457" y="0"/>
                    </a:cubicBezTo>
                    <a:close/>
                  </a:path>
                </a:pathLst>
              </a:custGeom>
              <a:solidFill>
                <a:srgbClr val="DE6A2B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035130" cy="7556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0"/>
              <a:ext cx="5240347" cy="1668357"/>
              <a:chOff x="0" y="0"/>
              <a:chExt cx="1035130" cy="329552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035130" cy="329552"/>
              </a:xfrm>
              <a:custGeom>
                <a:avLst/>
                <a:gdLst/>
                <a:ahLst/>
                <a:cxnLst/>
                <a:rect r="r" b="b" t="t" l="l"/>
                <a:pathLst>
                  <a:path h="329552" w="1035130">
                    <a:moveTo>
                      <a:pt x="35457" y="0"/>
                    </a:moveTo>
                    <a:lnTo>
                      <a:pt x="999673" y="0"/>
                    </a:lnTo>
                    <a:cubicBezTo>
                      <a:pt x="1019256" y="0"/>
                      <a:pt x="1035130" y="15875"/>
                      <a:pt x="1035130" y="35457"/>
                    </a:cubicBezTo>
                    <a:lnTo>
                      <a:pt x="1035130" y="294095"/>
                    </a:lnTo>
                    <a:cubicBezTo>
                      <a:pt x="1035130" y="313677"/>
                      <a:pt x="1019256" y="329552"/>
                      <a:pt x="999673" y="329552"/>
                    </a:cubicBezTo>
                    <a:lnTo>
                      <a:pt x="35457" y="329552"/>
                    </a:lnTo>
                    <a:cubicBezTo>
                      <a:pt x="15875" y="329552"/>
                      <a:pt x="0" y="313677"/>
                      <a:pt x="0" y="294095"/>
                    </a:cubicBezTo>
                    <a:lnTo>
                      <a:pt x="0" y="35457"/>
                    </a:lnTo>
                    <a:cubicBezTo>
                      <a:pt x="0" y="15875"/>
                      <a:pt x="15875" y="0"/>
                      <a:pt x="35457" y="0"/>
                    </a:cubicBezTo>
                    <a:close/>
                  </a:path>
                </a:pathLst>
              </a:custGeom>
              <a:solidFill>
                <a:srgbClr val="E5E5E5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1035130" cy="36765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24" id="24"/>
          <p:cNvSpPr txBox="true"/>
          <p:nvPr/>
        </p:nvSpPr>
        <p:spPr>
          <a:xfrm rot="0">
            <a:off x="7178870" y="4418123"/>
            <a:ext cx="3930260" cy="707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7"/>
              </a:lnSpc>
            </a:pPr>
            <a:r>
              <a:rPr lang="en-US" b="true" sz="4773">
                <a:solidFill>
                  <a:srgbClr val="121212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LOCATION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2976041" y="3994981"/>
            <a:ext cx="3930260" cy="3890074"/>
            <a:chOff x="0" y="0"/>
            <a:chExt cx="5240347" cy="5186766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1554162"/>
              <a:ext cx="5240347" cy="3632604"/>
              <a:chOff x="0" y="0"/>
              <a:chExt cx="1035130" cy="717551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035130" cy="717551"/>
              </a:xfrm>
              <a:custGeom>
                <a:avLst/>
                <a:gdLst/>
                <a:ahLst/>
                <a:cxnLst/>
                <a:rect r="r" b="b" t="t" l="l"/>
                <a:pathLst>
                  <a:path h="717551" w="1035130">
                    <a:moveTo>
                      <a:pt x="29547" y="0"/>
                    </a:moveTo>
                    <a:lnTo>
                      <a:pt x="1005583" y="0"/>
                    </a:lnTo>
                    <a:cubicBezTo>
                      <a:pt x="1013419" y="0"/>
                      <a:pt x="1020935" y="3113"/>
                      <a:pt x="1026476" y="8654"/>
                    </a:cubicBezTo>
                    <a:cubicBezTo>
                      <a:pt x="1032017" y="14195"/>
                      <a:pt x="1035130" y="21711"/>
                      <a:pt x="1035130" y="29547"/>
                    </a:cubicBezTo>
                    <a:lnTo>
                      <a:pt x="1035130" y="688004"/>
                    </a:lnTo>
                    <a:cubicBezTo>
                      <a:pt x="1035130" y="695840"/>
                      <a:pt x="1032017" y="703356"/>
                      <a:pt x="1026476" y="708897"/>
                    </a:cubicBezTo>
                    <a:cubicBezTo>
                      <a:pt x="1020935" y="714438"/>
                      <a:pt x="1013419" y="717551"/>
                      <a:pt x="1005583" y="717551"/>
                    </a:cubicBezTo>
                    <a:lnTo>
                      <a:pt x="29547" y="717551"/>
                    </a:lnTo>
                    <a:cubicBezTo>
                      <a:pt x="21711" y="717551"/>
                      <a:pt x="14195" y="714438"/>
                      <a:pt x="8654" y="708897"/>
                    </a:cubicBezTo>
                    <a:cubicBezTo>
                      <a:pt x="3113" y="703356"/>
                      <a:pt x="0" y="695840"/>
                      <a:pt x="0" y="688004"/>
                    </a:cubicBezTo>
                    <a:lnTo>
                      <a:pt x="0" y="29547"/>
                    </a:lnTo>
                    <a:cubicBezTo>
                      <a:pt x="0" y="21711"/>
                      <a:pt x="3113" y="14195"/>
                      <a:pt x="8654" y="8654"/>
                    </a:cubicBezTo>
                    <a:cubicBezTo>
                      <a:pt x="14195" y="3113"/>
                      <a:pt x="21711" y="0"/>
                      <a:pt x="29547" y="0"/>
                    </a:cubicBezTo>
                    <a:close/>
                  </a:path>
                </a:pathLst>
              </a:custGeom>
              <a:solidFill>
                <a:srgbClr val="DE6A2B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1035130" cy="7556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0" y="0"/>
              <a:ext cx="5240347" cy="1668357"/>
              <a:chOff x="0" y="0"/>
              <a:chExt cx="1035130" cy="329552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035130" cy="329552"/>
              </a:xfrm>
              <a:custGeom>
                <a:avLst/>
                <a:gdLst/>
                <a:ahLst/>
                <a:cxnLst/>
                <a:rect r="r" b="b" t="t" l="l"/>
                <a:pathLst>
                  <a:path h="329552" w="1035130">
                    <a:moveTo>
                      <a:pt x="29547" y="0"/>
                    </a:moveTo>
                    <a:lnTo>
                      <a:pt x="1005583" y="0"/>
                    </a:lnTo>
                    <a:cubicBezTo>
                      <a:pt x="1013419" y="0"/>
                      <a:pt x="1020935" y="3113"/>
                      <a:pt x="1026476" y="8654"/>
                    </a:cubicBezTo>
                    <a:cubicBezTo>
                      <a:pt x="1032017" y="14195"/>
                      <a:pt x="1035130" y="21711"/>
                      <a:pt x="1035130" y="29547"/>
                    </a:cubicBezTo>
                    <a:lnTo>
                      <a:pt x="1035130" y="300005"/>
                    </a:lnTo>
                    <a:cubicBezTo>
                      <a:pt x="1035130" y="307841"/>
                      <a:pt x="1032017" y="315357"/>
                      <a:pt x="1026476" y="320898"/>
                    </a:cubicBezTo>
                    <a:cubicBezTo>
                      <a:pt x="1020935" y="326439"/>
                      <a:pt x="1013419" y="329552"/>
                      <a:pt x="1005583" y="329552"/>
                    </a:cubicBezTo>
                    <a:lnTo>
                      <a:pt x="29547" y="329552"/>
                    </a:lnTo>
                    <a:cubicBezTo>
                      <a:pt x="21711" y="329552"/>
                      <a:pt x="14195" y="326439"/>
                      <a:pt x="8654" y="320898"/>
                    </a:cubicBezTo>
                    <a:cubicBezTo>
                      <a:pt x="3113" y="315357"/>
                      <a:pt x="0" y="307841"/>
                      <a:pt x="0" y="300005"/>
                    </a:cubicBezTo>
                    <a:lnTo>
                      <a:pt x="0" y="29547"/>
                    </a:lnTo>
                    <a:cubicBezTo>
                      <a:pt x="0" y="21711"/>
                      <a:pt x="3113" y="14195"/>
                      <a:pt x="8654" y="8654"/>
                    </a:cubicBezTo>
                    <a:cubicBezTo>
                      <a:pt x="14195" y="3113"/>
                      <a:pt x="21711" y="0"/>
                      <a:pt x="29547" y="0"/>
                    </a:cubicBezTo>
                    <a:close/>
                  </a:path>
                </a:pathLst>
              </a:custGeom>
              <a:solidFill>
                <a:srgbClr val="E5E5E5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1035130" cy="36765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32" id="32"/>
          <p:cNvSpPr txBox="true"/>
          <p:nvPr/>
        </p:nvSpPr>
        <p:spPr>
          <a:xfrm rot="0">
            <a:off x="13125043" y="4380091"/>
            <a:ext cx="3694078" cy="707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7"/>
              </a:lnSpc>
            </a:pPr>
            <a:r>
              <a:rPr lang="en-US" b="true" sz="4773">
                <a:solidFill>
                  <a:srgbClr val="121212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CONTROL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718325" y="5804339"/>
            <a:ext cx="2851350" cy="1110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5"/>
              </a:lnSpc>
            </a:pPr>
            <a:r>
              <a:rPr lang="en-US" sz="3399" spc="-91">
                <a:solidFill>
                  <a:srgbClr val="E5E5E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content must follow the display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515496" y="5525734"/>
            <a:ext cx="2851350" cy="1777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5"/>
              </a:lnSpc>
            </a:pPr>
            <a:r>
              <a:rPr lang="en-US" sz="3399" spc="-91">
                <a:solidFill>
                  <a:srgbClr val="E5E5E5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someone approves what goes live; advertisers want proof it played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1047750"/>
            <a:ext cx="18288000" cy="0"/>
          </a:xfrm>
          <a:prstGeom prst="line">
            <a:avLst/>
          </a:prstGeom>
          <a:ln cap="flat" w="38100">
            <a:solidFill>
              <a:srgbClr val="E5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654076" y="8935107"/>
            <a:ext cx="979847" cy="195969"/>
          </a:xfrm>
          <a:custGeom>
            <a:avLst/>
            <a:gdLst/>
            <a:ahLst/>
            <a:cxnLst/>
            <a:rect r="r" b="b" t="t" l="l"/>
            <a:pathLst>
              <a:path h="195969" w="979847">
                <a:moveTo>
                  <a:pt x="0" y="0"/>
                </a:moveTo>
                <a:lnTo>
                  <a:pt x="979848" y="0"/>
                </a:lnTo>
                <a:lnTo>
                  <a:pt x="979848" y="195969"/>
                </a:lnTo>
                <a:lnTo>
                  <a:pt x="0" y="19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47810" y="1160602"/>
            <a:ext cx="7074459" cy="2908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87"/>
              </a:lnSpc>
            </a:pPr>
            <a:r>
              <a:rPr lang="en-US" sz="8221" b="true">
                <a:solidFill>
                  <a:srgbClr val="E5E5E5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OUR</a:t>
            </a:r>
            <a:r>
              <a:rPr lang="en-US" b="true" sz="8221">
                <a:solidFill>
                  <a:srgbClr val="E5E5E5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SOLUTION</a:t>
            </a:r>
          </a:p>
          <a:p>
            <a:pPr algn="l">
              <a:lnSpc>
                <a:spcPts val="6987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857335" y="3608318"/>
            <a:ext cx="2776058" cy="2747674"/>
            <a:chOff x="0" y="0"/>
            <a:chExt cx="3701411" cy="3663565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1097750"/>
              <a:ext cx="3701411" cy="2565815"/>
              <a:chOff x="0" y="0"/>
              <a:chExt cx="1035130" cy="71755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35130" cy="717551"/>
              </a:xfrm>
              <a:custGeom>
                <a:avLst/>
                <a:gdLst/>
                <a:ahLst/>
                <a:cxnLst/>
                <a:rect r="r" b="b" t="t" l="l"/>
                <a:pathLst>
                  <a:path h="717551" w="1035130">
                    <a:moveTo>
                      <a:pt x="29547" y="0"/>
                    </a:moveTo>
                    <a:lnTo>
                      <a:pt x="1005583" y="0"/>
                    </a:lnTo>
                    <a:cubicBezTo>
                      <a:pt x="1013419" y="0"/>
                      <a:pt x="1020935" y="3113"/>
                      <a:pt x="1026476" y="8654"/>
                    </a:cubicBezTo>
                    <a:cubicBezTo>
                      <a:pt x="1032017" y="14195"/>
                      <a:pt x="1035130" y="21711"/>
                      <a:pt x="1035130" y="29547"/>
                    </a:cubicBezTo>
                    <a:lnTo>
                      <a:pt x="1035130" y="688004"/>
                    </a:lnTo>
                    <a:cubicBezTo>
                      <a:pt x="1035130" y="695840"/>
                      <a:pt x="1032017" y="703356"/>
                      <a:pt x="1026476" y="708897"/>
                    </a:cubicBezTo>
                    <a:cubicBezTo>
                      <a:pt x="1020935" y="714438"/>
                      <a:pt x="1013419" y="717551"/>
                      <a:pt x="1005583" y="717551"/>
                    </a:cubicBezTo>
                    <a:lnTo>
                      <a:pt x="29547" y="717551"/>
                    </a:lnTo>
                    <a:cubicBezTo>
                      <a:pt x="21711" y="717551"/>
                      <a:pt x="14195" y="714438"/>
                      <a:pt x="8654" y="708897"/>
                    </a:cubicBezTo>
                    <a:cubicBezTo>
                      <a:pt x="3113" y="703356"/>
                      <a:pt x="0" y="695840"/>
                      <a:pt x="0" y="688004"/>
                    </a:cubicBezTo>
                    <a:lnTo>
                      <a:pt x="0" y="29547"/>
                    </a:lnTo>
                    <a:cubicBezTo>
                      <a:pt x="0" y="21711"/>
                      <a:pt x="3113" y="14195"/>
                      <a:pt x="8654" y="8654"/>
                    </a:cubicBezTo>
                    <a:cubicBezTo>
                      <a:pt x="14195" y="3113"/>
                      <a:pt x="21711" y="0"/>
                      <a:pt x="29547" y="0"/>
                    </a:cubicBezTo>
                    <a:close/>
                  </a:path>
                </a:pathLst>
              </a:custGeom>
              <a:solidFill>
                <a:srgbClr val="DE6A2B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035130" cy="7556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3701411" cy="1178410"/>
              <a:chOff x="0" y="0"/>
              <a:chExt cx="1035130" cy="32955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035130" cy="329552"/>
              </a:xfrm>
              <a:custGeom>
                <a:avLst/>
                <a:gdLst/>
                <a:ahLst/>
                <a:cxnLst/>
                <a:rect r="r" b="b" t="t" l="l"/>
                <a:pathLst>
                  <a:path h="329552" w="1035130">
                    <a:moveTo>
                      <a:pt x="29547" y="0"/>
                    </a:moveTo>
                    <a:lnTo>
                      <a:pt x="1005583" y="0"/>
                    </a:lnTo>
                    <a:cubicBezTo>
                      <a:pt x="1013419" y="0"/>
                      <a:pt x="1020935" y="3113"/>
                      <a:pt x="1026476" y="8654"/>
                    </a:cubicBezTo>
                    <a:cubicBezTo>
                      <a:pt x="1032017" y="14195"/>
                      <a:pt x="1035130" y="21711"/>
                      <a:pt x="1035130" y="29547"/>
                    </a:cubicBezTo>
                    <a:lnTo>
                      <a:pt x="1035130" y="300005"/>
                    </a:lnTo>
                    <a:cubicBezTo>
                      <a:pt x="1035130" y="307841"/>
                      <a:pt x="1032017" y="315357"/>
                      <a:pt x="1026476" y="320898"/>
                    </a:cubicBezTo>
                    <a:cubicBezTo>
                      <a:pt x="1020935" y="326439"/>
                      <a:pt x="1013419" y="329552"/>
                      <a:pt x="1005583" y="329552"/>
                    </a:cubicBezTo>
                    <a:lnTo>
                      <a:pt x="29547" y="329552"/>
                    </a:lnTo>
                    <a:cubicBezTo>
                      <a:pt x="21711" y="329552"/>
                      <a:pt x="14195" y="326439"/>
                      <a:pt x="8654" y="320898"/>
                    </a:cubicBezTo>
                    <a:cubicBezTo>
                      <a:pt x="3113" y="315357"/>
                      <a:pt x="0" y="307841"/>
                      <a:pt x="0" y="300005"/>
                    </a:cubicBezTo>
                    <a:lnTo>
                      <a:pt x="0" y="29547"/>
                    </a:lnTo>
                    <a:cubicBezTo>
                      <a:pt x="0" y="21711"/>
                      <a:pt x="3113" y="14195"/>
                      <a:pt x="8654" y="8654"/>
                    </a:cubicBezTo>
                    <a:cubicBezTo>
                      <a:pt x="14195" y="3113"/>
                      <a:pt x="21711" y="0"/>
                      <a:pt x="29547" y="0"/>
                    </a:cubicBezTo>
                    <a:close/>
                  </a:path>
                </a:pathLst>
              </a:custGeom>
              <a:solidFill>
                <a:srgbClr val="E5E5E5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035130" cy="36765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504787" y="1397878"/>
              <a:ext cx="2685323" cy="22234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17"/>
                </a:lnSpc>
              </a:pPr>
              <a:r>
                <a:rPr lang="en-US" sz="2401" spc="-64">
                  <a:solidFill>
                    <a:srgbClr val="E5E5E5"/>
                  </a:solidFill>
                  <a:latin typeface="Arial Nova Condensed"/>
                  <a:ea typeface="Arial Nova Condensed"/>
                  <a:cs typeface="Arial Nova Condensed"/>
                  <a:sym typeface="Arial Nova Condensed"/>
                </a:rPr>
                <a:t>upload · target zones/devices · day and time window · play report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340522" y="344948"/>
              <a:ext cx="3020366" cy="6801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en-US" b="true" sz="2100">
                  <a:solidFill>
                    <a:srgbClr val="121212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ADVERTISER PORTAL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4338844" y="2908468"/>
            <a:ext cx="12920456" cy="7009347"/>
          </a:xfrm>
          <a:custGeom>
            <a:avLst/>
            <a:gdLst/>
            <a:ahLst/>
            <a:cxnLst/>
            <a:rect r="r" b="b" t="t" l="l"/>
            <a:pathLst>
              <a:path h="7009347" w="12920456">
                <a:moveTo>
                  <a:pt x="0" y="0"/>
                </a:moveTo>
                <a:lnTo>
                  <a:pt x="12920456" y="0"/>
                </a:lnTo>
                <a:lnTo>
                  <a:pt x="12920456" y="7009348"/>
                </a:lnTo>
                <a:lnTo>
                  <a:pt x="0" y="70093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9050" y="643464"/>
            <a:ext cx="18288000" cy="0"/>
          </a:xfrm>
          <a:prstGeom prst="line">
            <a:avLst/>
          </a:prstGeom>
          <a:ln cap="flat" w="38100">
            <a:solidFill>
              <a:srgbClr val="E5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654076" y="8935107"/>
            <a:ext cx="979847" cy="195969"/>
          </a:xfrm>
          <a:custGeom>
            <a:avLst/>
            <a:gdLst/>
            <a:ahLst/>
            <a:cxnLst/>
            <a:rect r="r" b="b" t="t" l="l"/>
            <a:pathLst>
              <a:path h="195969" w="979847">
                <a:moveTo>
                  <a:pt x="0" y="0"/>
                </a:moveTo>
                <a:lnTo>
                  <a:pt x="979848" y="0"/>
                </a:lnTo>
                <a:lnTo>
                  <a:pt x="979848" y="195969"/>
                </a:lnTo>
                <a:lnTo>
                  <a:pt x="0" y="19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65032" y="776814"/>
            <a:ext cx="8089044" cy="3319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90"/>
              </a:lnSpc>
            </a:pPr>
            <a:r>
              <a:rPr lang="en-US" sz="9400" b="true">
                <a:solidFill>
                  <a:srgbClr val="E5E5E5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OUR</a:t>
            </a:r>
            <a:r>
              <a:rPr lang="en-US" b="true" sz="9400">
                <a:solidFill>
                  <a:srgbClr val="E5E5E5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SOLUTION</a:t>
            </a:r>
          </a:p>
          <a:p>
            <a:pPr algn="l">
              <a:lnSpc>
                <a:spcPts val="7990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3769663"/>
            <a:ext cx="2776058" cy="2747674"/>
            <a:chOff x="0" y="0"/>
            <a:chExt cx="3701411" cy="3663565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1097750"/>
              <a:ext cx="3701411" cy="2565815"/>
              <a:chOff x="0" y="0"/>
              <a:chExt cx="1035130" cy="71755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35130" cy="717551"/>
              </a:xfrm>
              <a:custGeom>
                <a:avLst/>
                <a:gdLst/>
                <a:ahLst/>
                <a:cxnLst/>
                <a:rect r="r" b="b" t="t" l="l"/>
                <a:pathLst>
                  <a:path h="717551" w="1035130">
                    <a:moveTo>
                      <a:pt x="0" y="0"/>
                    </a:moveTo>
                    <a:lnTo>
                      <a:pt x="1035130" y="0"/>
                    </a:lnTo>
                    <a:lnTo>
                      <a:pt x="1035130" y="717551"/>
                    </a:lnTo>
                    <a:lnTo>
                      <a:pt x="0" y="717551"/>
                    </a:lnTo>
                    <a:close/>
                  </a:path>
                </a:pathLst>
              </a:custGeom>
              <a:solidFill>
                <a:srgbClr val="DE6A2B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035130" cy="7556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3701411" cy="1178410"/>
              <a:chOff x="0" y="0"/>
              <a:chExt cx="1035130" cy="32955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035130" cy="329552"/>
              </a:xfrm>
              <a:custGeom>
                <a:avLst/>
                <a:gdLst/>
                <a:ahLst/>
                <a:cxnLst/>
                <a:rect r="r" b="b" t="t" l="l"/>
                <a:pathLst>
                  <a:path h="329552" w="1035130">
                    <a:moveTo>
                      <a:pt x="0" y="0"/>
                    </a:moveTo>
                    <a:lnTo>
                      <a:pt x="1035130" y="0"/>
                    </a:lnTo>
                    <a:lnTo>
                      <a:pt x="1035130" y="329552"/>
                    </a:lnTo>
                    <a:lnTo>
                      <a:pt x="0" y="329552"/>
                    </a:lnTo>
                    <a:close/>
                  </a:path>
                </a:pathLst>
              </a:custGeom>
              <a:solidFill>
                <a:srgbClr val="E5E5E5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035130" cy="36765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254022" y="463070"/>
              <a:ext cx="3193367" cy="4048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45"/>
                </a:lnSpc>
              </a:pPr>
              <a:r>
                <a:rPr lang="en-US" b="true" sz="2171">
                  <a:solidFill>
                    <a:srgbClr val="121212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ADMIN PORTAL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508044" y="1651839"/>
              <a:ext cx="2685323" cy="13443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17"/>
                </a:lnSpc>
              </a:pPr>
              <a:r>
                <a:rPr lang="en-US" sz="2401" spc="-64">
                  <a:solidFill>
                    <a:srgbClr val="E5E5E5"/>
                  </a:solidFill>
                  <a:latin typeface="Arial Nova Condensed"/>
                  <a:ea typeface="Arial Nova Condensed"/>
                  <a:cs typeface="Arial Nova Condensed"/>
                  <a:sym typeface="Arial Nova Condensed"/>
                </a:rPr>
                <a:t>review · confirm schedule · zones and devices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4727753" y="2940209"/>
            <a:ext cx="12362988" cy="6711306"/>
          </a:xfrm>
          <a:custGeom>
            <a:avLst/>
            <a:gdLst/>
            <a:ahLst/>
            <a:cxnLst/>
            <a:rect r="r" b="b" t="t" l="l"/>
            <a:pathLst>
              <a:path h="6711306" w="12362988">
                <a:moveTo>
                  <a:pt x="0" y="0"/>
                </a:moveTo>
                <a:lnTo>
                  <a:pt x="12362987" y="0"/>
                </a:lnTo>
                <a:lnTo>
                  <a:pt x="12362987" y="6711306"/>
                </a:lnTo>
                <a:lnTo>
                  <a:pt x="0" y="67113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9737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474213"/>
            <a:ext cx="18288000" cy="0"/>
          </a:xfrm>
          <a:prstGeom prst="line">
            <a:avLst/>
          </a:prstGeom>
          <a:ln cap="flat" w="38100">
            <a:solidFill>
              <a:srgbClr val="12121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654076" y="8935107"/>
            <a:ext cx="979847" cy="195969"/>
          </a:xfrm>
          <a:custGeom>
            <a:avLst/>
            <a:gdLst/>
            <a:ahLst/>
            <a:cxnLst/>
            <a:rect r="r" b="b" t="t" l="l"/>
            <a:pathLst>
              <a:path h="195969" w="979847">
                <a:moveTo>
                  <a:pt x="0" y="0"/>
                </a:moveTo>
                <a:lnTo>
                  <a:pt x="979848" y="0"/>
                </a:lnTo>
                <a:lnTo>
                  <a:pt x="979848" y="195969"/>
                </a:lnTo>
                <a:lnTo>
                  <a:pt x="0" y="19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94941" y="2214189"/>
            <a:ext cx="332064" cy="344108"/>
          </a:xfrm>
          <a:custGeom>
            <a:avLst/>
            <a:gdLst/>
            <a:ahLst/>
            <a:cxnLst/>
            <a:rect r="r" b="b" t="t" l="l"/>
            <a:pathLst>
              <a:path h="344108" w="332064">
                <a:moveTo>
                  <a:pt x="0" y="0"/>
                </a:moveTo>
                <a:lnTo>
                  <a:pt x="332064" y="0"/>
                </a:lnTo>
                <a:lnTo>
                  <a:pt x="332064" y="344108"/>
                </a:lnTo>
                <a:lnTo>
                  <a:pt x="0" y="3441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870790" y="4402433"/>
            <a:ext cx="332064" cy="344108"/>
          </a:xfrm>
          <a:custGeom>
            <a:avLst/>
            <a:gdLst/>
            <a:ahLst/>
            <a:cxnLst/>
            <a:rect r="r" b="b" t="t" l="l"/>
            <a:pathLst>
              <a:path h="344108" w="332064">
                <a:moveTo>
                  <a:pt x="0" y="0"/>
                </a:moveTo>
                <a:lnTo>
                  <a:pt x="332064" y="0"/>
                </a:lnTo>
                <a:lnTo>
                  <a:pt x="332064" y="344108"/>
                </a:lnTo>
                <a:lnTo>
                  <a:pt x="0" y="3441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3648" y="1927421"/>
            <a:ext cx="14980704" cy="8183331"/>
          </a:xfrm>
          <a:custGeom>
            <a:avLst/>
            <a:gdLst/>
            <a:ahLst/>
            <a:cxnLst/>
            <a:rect r="r" b="b" t="t" l="l"/>
            <a:pathLst>
              <a:path h="8183331" w="14980704">
                <a:moveTo>
                  <a:pt x="0" y="0"/>
                </a:moveTo>
                <a:lnTo>
                  <a:pt x="14980704" y="0"/>
                </a:lnTo>
                <a:lnTo>
                  <a:pt x="14980704" y="8183331"/>
                </a:lnTo>
                <a:lnTo>
                  <a:pt x="0" y="81833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0" y="761832"/>
            <a:ext cx="18070285" cy="1452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83"/>
              </a:lnSpc>
            </a:pPr>
            <a:r>
              <a:rPr lang="en-US" sz="9862" b="true">
                <a:solidFill>
                  <a:srgbClr val="121212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 SYSTEM</a:t>
            </a:r>
            <a:r>
              <a:rPr lang="en-US" b="true" sz="9862">
                <a:solidFill>
                  <a:srgbClr val="121212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 ARCHITECTURE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927236" y="714207"/>
            <a:ext cx="332064" cy="344108"/>
          </a:xfrm>
          <a:custGeom>
            <a:avLst/>
            <a:gdLst/>
            <a:ahLst/>
            <a:cxnLst/>
            <a:rect r="r" b="b" t="t" l="l"/>
            <a:pathLst>
              <a:path h="344108" w="332064">
                <a:moveTo>
                  <a:pt x="0" y="0"/>
                </a:moveTo>
                <a:lnTo>
                  <a:pt x="332064" y="0"/>
                </a:lnTo>
                <a:lnTo>
                  <a:pt x="332064" y="344107"/>
                </a:lnTo>
                <a:lnTo>
                  <a:pt x="0" y="3441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584212"/>
            <a:ext cx="18288000" cy="0"/>
          </a:xfrm>
          <a:prstGeom prst="line">
            <a:avLst/>
          </a:prstGeom>
          <a:ln cap="flat" w="38100">
            <a:solidFill>
              <a:srgbClr val="E5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654076" y="8935107"/>
            <a:ext cx="979847" cy="195969"/>
          </a:xfrm>
          <a:custGeom>
            <a:avLst/>
            <a:gdLst/>
            <a:ahLst/>
            <a:cxnLst/>
            <a:rect r="r" b="b" t="t" l="l"/>
            <a:pathLst>
              <a:path h="195969" w="979847">
                <a:moveTo>
                  <a:pt x="0" y="0"/>
                </a:moveTo>
                <a:lnTo>
                  <a:pt x="979848" y="0"/>
                </a:lnTo>
                <a:lnTo>
                  <a:pt x="979848" y="195969"/>
                </a:lnTo>
                <a:lnTo>
                  <a:pt x="0" y="19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2537441" y="727087"/>
            <a:ext cx="13513461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99"/>
              </a:lnSpc>
            </a:pPr>
            <a:r>
              <a:rPr lang="en-US" b="true" sz="9999">
                <a:solidFill>
                  <a:srgbClr val="DE6A2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TECH STACK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412163" y="859643"/>
            <a:ext cx="760412" cy="760412"/>
          </a:xfrm>
          <a:custGeom>
            <a:avLst/>
            <a:gdLst/>
            <a:ahLst/>
            <a:cxnLst/>
            <a:rect r="r" b="b" t="t" l="l"/>
            <a:pathLst>
              <a:path h="760412" w="760412">
                <a:moveTo>
                  <a:pt x="0" y="0"/>
                </a:moveTo>
                <a:lnTo>
                  <a:pt x="760412" y="0"/>
                </a:lnTo>
                <a:lnTo>
                  <a:pt x="760412" y="760412"/>
                </a:lnTo>
                <a:lnTo>
                  <a:pt x="0" y="7604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25420" y="5735075"/>
            <a:ext cx="6216539" cy="2707911"/>
          </a:xfrm>
          <a:custGeom>
            <a:avLst/>
            <a:gdLst/>
            <a:ahLst/>
            <a:cxnLst/>
            <a:rect r="r" b="b" t="t" l="l"/>
            <a:pathLst>
              <a:path h="2707911" w="6216539">
                <a:moveTo>
                  <a:pt x="0" y="0"/>
                </a:moveTo>
                <a:lnTo>
                  <a:pt x="6216539" y="0"/>
                </a:lnTo>
                <a:lnTo>
                  <a:pt x="6216539" y="2707911"/>
                </a:lnTo>
                <a:lnTo>
                  <a:pt x="0" y="27079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727" t="-57322" r="-122550" b="-27173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25420" y="2105036"/>
            <a:ext cx="9501202" cy="3371917"/>
          </a:xfrm>
          <a:custGeom>
            <a:avLst/>
            <a:gdLst/>
            <a:ahLst/>
            <a:cxnLst/>
            <a:rect r="r" b="b" t="t" l="l"/>
            <a:pathLst>
              <a:path h="3371917" w="9501202">
                <a:moveTo>
                  <a:pt x="0" y="0"/>
                </a:moveTo>
                <a:lnTo>
                  <a:pt x="9501201" y="0"/>
                </a:lnTo>
                <a:lnTo>
                  <a:pt x="9501201" y="3371917"/>
                </a:lnTo>
                <a:lnTo>
                  <a:pt x="0" y="33719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1898" t="-57322" r="-827" b="-271739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085398" y="2349356"/>
            <a:ext cx="3449304" cy="2794144"/>
          </a:xfrm>
          <a:custGeom>
            <a:avLst/>
            <a:gdLst/>
            <a:ahLst/>
            <a:cxnLst/>
            <a:rect r="r" b="b" t="t" l="l"/>
            <a:pathLst>
              <a:path h="2794144" w="3449304">
                <a:moveTo>
                  <a:pt x="0" y="0"/>
                </a:moveTo>
                <a:lnTo>
                  <a:pt x="3449303" y="0"/>
                </a:lnTo>
                <a:lnTo>
                  <a:pt x="3449303" y="2794144"/>
                </a:lnTo>
                <a:lnTo>
                  <a:pt x="0" y="27941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032" t="-168649" r="-344062" b="-195406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186685" y="5948164"/>
            <a:ext cx="4818541" cy="2494822"/>
          </a:xfrm>
          <a:custGeom>
            <a:avLst/>
            <a:gdLst/>
            <a:ahLst/>
            <a:cxnLst/>
            <a:rect r="r" b="b" t="t" l="l"/>
            <a:pathLst>
              <a:path h="2494822" w="4818541">
                <a:moveTo>
                  <a:pt x="0" y="0"/>
                </a:moveTo>
                <a:lnTo>
                  <a:pt x="4818541" y="0"/>
                </a:lnTo>
                <a:lnTo>
                  <a:pt x="4818541" y="2494822"/>
                </a:lnTo>
                <a:lnTo>
                  <a:pt x="0" y="24948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04214" t="-168649" r="-84105" b="-195406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681970" y="3317636"/>
            <a:ext cx="1654978" cy="1876503"/>
            <a:chOff x="0" y="0"/>
            <a:chExt cx="435879" cy="4942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5879" cy="494223"/>
            </a:xfrm>
            <a:custGeom>
              <a:avLst/>
              <a:gdLst/>
              <a:ahLst/>
              <a:cxnLst/>
              <a:rect r="r" b="b" t="t" l="l"/>
              <a:pathLst>
                <a:path h="494223" w="435879">
                  <a:moveTo>
                    <a:pt x="0" y="0"/>
                  </a:moveTo>
                  <a:lnTo>
                    <a:pt x="435879" y="0"/>
                  </a:lnTo>
                  <a:lnTo>
                    <a:pt x="435879" y="494223"/>
                  </a:lnTo>
                  <a:lnTo>
                    <a:pt x="0" y="494223"/>
                  </a:lnTo>
                  <a:close/>
                </a:path>
              </a:pathLst>
            </a:custGeom>
            <a:solidFill>
              <a:srgbClr val="E2FDE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35879" cy="532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1047750"/>
            <a:ext cx="18288000" cy="0"/>
          </a:xfrm>
          <a:prstGeom prst="line">
            <a:avLst/>
          </a:prstGeom>
          <a:ln cap="flat" w="38100">
            <a:solidFill>
              <a:srgbClr val="E5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654076" y="8935107"/>
            <a:ext cx="979847" cy="195969"/>
          </a:xfrm>
          <a:custGeom>
            <a:avLst/>
            <a:gdLst/>
            <a:ahLst/>
            <a:cxnLst/>
            <a:rect r="r" b="b" t="t" l="l"/>
            <a:pathLst>
              <a:path h="195969" w="979847">
                <a:moveTo>
                  <a:pt x="0" y="0"/>
                </a:moveTo>
                <a:lnTo>
                  <a:pt x="979848" y="0"/>
                </a:lnTo>
                <a:lnTo>
                  <a:pt x="979848" y="195969"/>
                </a:lnTo>
                <a:lnTo>
                  <a:pt x="0" y="19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88056" y="1389075"/>
            <a:ext cx="14712675" cy="2549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99"/>
              </a:lnSpc>
            </a:pPr>
            <a:r>
              <a:rPr lang="en-US" sz="9999" b="true">
                <a:solidFill>
                  <a:srgbClr val="E5E5E5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WHAT’S DIFFERENT?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478586" y="2030936"/>
            <a:ext cx="1218177" cy="1218177"/>
          </a:xfrm>
          <a:custGeom>
            <a:avLst/>
            <a:gdLst/>
            <a:ahLst/>
            <a:cxnLst/>
            <a:rect r="r" b="b" t="t" l="l"/>
            <a:pathLst>
              <a:path h="1218177" w="1218177">
                <a:moveTo>
                  <a:pt x="0" y="0"/>
                </a:moveTo>
                <a:lnTo>
                  <a:pt x="1218177" y="0"/>
                </a:lnTo>
                <a:lnTo>
                  <a:pt x="1218177" y="1218176"/>
                </a:lnTo>
                <a:lnTo>
                  <a:pt x="0" y="12181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3798750"/>
            <a:ext cx="10441786" cy="5042079"/>
          </a:xfrm>
          <a:custGeom>
            <a:avLst/>
            <a:gdLst/>
            <a:ahLst/>
            <a:cxnLst/>
            <a:rect r="r" b="b" t="t" l="l"/>
            <a:pathLst>
              <a:path h="5042079" w="10441786">
                <a:moveTo>
                  <a:pt x="0" y="0"/>
                </a:moveTo>
                <a:lnTo>
                  <a:pt x="10441786" y="0"/>
                </a:lnTo>
                <a:lnTo>
                  <a:pt x="10441786" y="5042079"/>
                </a:lnTo>
                <a:lnTo>
                  <a:pt x="0" y="50420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13" r="0" b="-113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057900" y="3798750"/>
            <a:ext cx="3086100" cy="497017"/>
            <a:chOff x="0" y="0"/>
            <a:chExt cx="812800" cy="13090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130902"/>
            </a:xfrm>
            <a:custGeom>
              <a:avLst/>
              <a:gdLst/>
              <a:ahLst/>
              <a:cxnLst/>
              <a:rect r="r" b="b" t="t" l="l"/>
              <a:pathLst>
                <a:path h="13090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30902"/>
                  </a:lnTo>
                  <a:lnTo>
                    <a:pt x="0" y="130902"/>
                  </a:lnTo>
                  <a:close/>
                </a:path>
              </a:pathLst>
            </a:custGeom>
            <a:solidFill>
              <a:srgbClr val="232323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812800" cy="1690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437588" y="3750837"/>
            <a:ext cx="2969657" cy="526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3"/>
              </a:lnSpc>
              <a:spcBef>
                <a:spcPct val="0"/>
              </a:spcBef>
            </a:pPr>
            <a:r>
              <a:rPr lang="en-US" b="true" sz="2909">
                <a:solidFill>
                  <a:srgbClr val="E5E5E5"/>
                </a:solidFill>
                <a:latin typeface="Telegraf Bold"/>
                <a:ea typeface="Telegraf Bold"/>
                <a:cs typeface="Telegraf Bold"/>
                <a:sym typeface="Telegraf Bold"/>
              </a:rPr>
              <a:t>LOCATIONSYNC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1047750"/>
            <a:ext cx="18288000" cy="0"/>
          </a:xfrm>
          <a:prstGeom prst="line">
            <a:avLst/>
          </a:prstGeom>
          <a:ln cap="flat" w="38100">
            <a:solidFill>
              <a:srgbClr val="E5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654076" y="8935107"/>
            <a:ext cx="979847" cy="195969"/>
          </a:xfrm>
          <a:custGeom>
            <a:avLst/>
            <a:gdLst/>
            <a:ahLst/>
            <a:cxnLst/>
            <a:rect r="r" b="b" t="t" l="l"/>
            <a:pathLst>
              <a:path h="195969" w="979847">
                <a:moveTo>
                  <a:pt x="0" y="0"/>
                </a:moveTo>
                <a:lnTo>
                  <a:pt x="979848" y="0"/>
                </a:lnTo>
                <a:lnTo>
                  <a:pt x="979848" y="195969"/>
                </a:lnTo>
                <a:lnTo>
                  <a:pt x="0" y="19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5584748"/>
            <a:ext cx="6589368" cy="2421848"/>
            <a:chOff x="0" y="0"/>
            <a:chExt cx="1735472" cy="6378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35472" cy="637853"/>
            </a:xfrm>
            <a:custGeom>
              <a:avLst/>
              <a:gdLst/>
              <a:ahLst/>
              <a:cxnLst/>
              <a:rect r="r" b="b" t="t" l="l"/>
              <a:pathLst>
                <a:path h="637853" w="1735472">
                  <a:moveTo>
                    <a:pt x="0" y="0"/>
                  </a:moveTo>
                  <a:lnTo>
                    <a:pt x="1735472" y="0"/>
                  </a:lnTo>
                  <a:lnTo>
                    <a:pt x="1735472" y="637853"/>
                  </a:lnTo>
                  <a:lnTo>
                    <a:pt x="0" y="637853"/>
                  </a:lnTo>
                  <a:close/>
                </a:path>
              </a:pathLst>
            </a:custGeom>
            <a:solidFill>
              <a:srgbClr val="DE6A2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35472" cy="6759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8488044" y="4610620"/>
            <a:ext cx="332064" cy="344108"/>
          </a:xfrm>
          <a:custGeom>
            <a:avLst/>
            <a:gdLst/>
            <a:ahLst/>
            <a:cxnLst/>
            <a:rect r="r" b="b" t="t" l="l"/>
            <a:pathLst>
              <a:path h="344108" w="332064">
                <a:moveTo>
                  <a:pt x="0" y="0"/>
                </a:moveTo>
                <a:lnTo>
                  <a:pt x="332064" y="0"/>
                </a:lnTo>
                <a:lnTo>
                  <a:pt x="332064" y="344107"/>
                </a:lnTo>
                <a:lnTo>
                  <a:pt x="0" y="3441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488044" y="5143500"/>
            <a:ext cx="332064" cy="344108"/>
          </a:xfrm>
          <a:custGeom>
            <a:avLst/>
            <a:gdLst/>
            <a:ahLst/>
            <a:cxnLst/>
            <a:rect r="r" b="b" t="t" l="l"/>
            <a:pathLst>
              <a:path h="344108" w="332064">
                <a:moveTo>
                  <a:pt x="0" y="0"/>
                </a:moveTo>
                <a:lnTo>
                  <a:pt x="332064" y="0"/>
                </a:lnTo>
                <a:lnTo>
                  <a:pt x="332064" y="344108"/>
                </a:lnTo>
                <a:lnTo>
                  <a:pt x="0" y="3441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20141" y="1744587"/>
            <a:ext cx="14546079" cy="2549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99"/>
              </a:lnSpc>
            </a:pPr>
            <a:r>
              <a:rPr lang="en-US" sz="9999" b="true">
                <a:solidFill>
                  <a:srgbClr val="E5E5E5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FEASIBILI</a:t>
            </a:r>
            <a:r>
              <a:rPr lang="en-US" b="true" sz="9999">
                <a:solidFill>
                  <a:srgbClr val="E5E5E5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TY AND REAL-WORLD USE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54361" y="6568138"/>
            <a:ext cx="5538047" cy="1406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807" indent="-215904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121212"/>
                </a:solidFill>
                <a:latin typeface="Arial Nova Condensed"/>
                <a:ea typeface="Arial Nova Condensed"/>
                <a:cs typeface="Arial Nova Condensed"/>
                <a:sym typeface="Arial Nova Condensed"/>
              </a:rPr>
              <a:t>B</a:t>
            </a:r>
            <a:r>
              <a:rPr lang="en-US" sz="2000">
                <a:solidFill>
                  <a:srgbClr val="121212"/>
                </a:solidFill>
                <a:latin typeface="Arial Nova Condensed"/>
                <a:ea typeface="Arial Nova Condensed"/>
                <a:cs typeface="Arial Nova Condensed"/>
                <a:sym typeface="Arial Nova Condensed"/>
              </a:rPr>
              <a:t>us, train, cab-top screens (mobile)</a:t>
            </a:r>
          </a:p>
          <a:p>
            <a:pPr algn="just" marL="431807" indent="-215904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121212"/>
                </a:solidFill>
                <a:latin typeface="Arial Nova Condensed"/>
                <a:ea typeface="Arial Nova Condensed"/>
                <a:cs typeface="Arial Nova Condensed"/>
                <a:sym typeface="Arial Nova Condensed"/>
              </a:rPr>
              <a:t>Billboard and bus-shelter networks (static)</a:t>
            </a:r>
          </a:p>
          <a:p>
            <a:pPr algn="just" marL="431807" indent="-215904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121212"/>
                </a:solidFill>
                <a:latin typeface="Arial Nova Condensed"/>
                <a:ea typeface="Arial Nova Condensed"/>
                <a:cs typeface="Arial Nova Condensed"/>
                <a:sym typeface="Arial Nova Condensed"/>
              </a:rPr>
              <a:t>Multi-city retail promotions</a:t>
            </a:r>
          </a:p>
          <a:p>
            <a:pPr algn="just">
              <a:lnSpc>
                <a:spcPts val="280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516261" y="6034827"/>
            <a:ext cx="2851350" cy="377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5"/>
              </a:lnSpc>
            </a:pPr>
            <a:r>
              <a:rPr lang="en-US" sz="3399" spc="-91" b="true">
                <a:solidFill>
                  <a:srgbClr val="121212"/>
                </a:solidFill>
                <a:latin typeface="Arial Nova Condensed Bold"/>
                <a:ea typeface="Arial Nova Condensed Bold"/>
                <a:cs typeface="Arial Nova Condensed Bold"/>
                <a:sym typeface="Arial Nova Condensed Bold"/>
              </a:rPr>
              <a:t>Where it fits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6675635" y="1589102"/>
            <a:ext cx="1063799" cy="1102382"/>
          </a:xfrm>
          <a:custGeom>
            <a:avLst/>
            <a:gdLst/>
            <a:ahLst/>
            <a:cxnLst/>
            <a:rect r="r" b="b" t="t" l="l"/>
            <a:pathLst>
              <a:path h="1102382" w="1063799">
                <a:moveTo>
                  <a:pt x="0" y="0"/>
                </a:moveTo>
                <a:lnTo>
                  <a:pt x="1063799" y="0"/>
                </a:lnTo>
                <a:lnTo>
                  <a:pt x="1063799" y="1102382"/>
                </a:lnTo>
                <a:lnTo>
                  <a:pt x="0" y="11023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040082" y="4310903"/>
            <a:ext cx="7116347" cy="418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spc="-91">
                <a:solidFill>
                  <a:srgbClr val="FFFFFF"/>
                </a:solidFill>
                <a:latin typeface="Arial Nova Condensed"/>
                <a:ea typeface="Arial Nova Condensed"/>
                <a:cs typeface="Arial Nova Condensed"/>
                <a:sym typeface="Arial Nova Condensed"/>
              </a:rPr>
              <a:t>Standard open-source stack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spc="-91">
                <a:solidFill>
                  <a:srgbClr val="FFFFFF"/>
                </a:solidFill>
                <a:latin typeface="Arial Nova Condensed"/>
                <a:ea typeface="Arial Nova Condensed"/>
                <a:cs typeface="Arial Nova Condensed"/>
                <a:sym typeface="Arial Nova Condensed"/>
              </a:rPr>
              <a:t>One backend, one database, one storage layer runs the full loop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spc="-91">
                <a:solidFill>
                  <a:srgbClr val="FFFFFF"/>
                </a:solidFill>
                <a:latin typeface="Arial Nova Condensed"/>
                <a:ea typeface="Arial Nova Condensed"/>
                <a:cs typeface="Arial Nova Condensed"/>
                <a:sym typeface="Arial Nova Condensed"/>
              </a:rPr>
              <a:t>Media cached on the device, downloaded once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spc="-91">
                <a:solidFill>
                  <a:srgbClr val="FFFFFF"/>
                </a:solidFill>
                <a:latin typeface="Arial Nova Condensed"/>
                <a:ea typeface="Arial Nova Condensed"/>
                <a:cs typeface="Arial Nova Condensed"/>
                <a:sym typeface="Arial Nova Condensed"/>
              </a:rPr>
              <a:t>JWT and roles; admin approval before anything goes live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488044" y="6116258"/>
            <a:ext cx="332064" cy="344108"/>
          </a:xfrm>
          <a:custGeom>
            <a:avLst/>
            <a:gdLst/>
            <a:ahLst/>
            <a:cxnLst/>
            <a:rect r="r" b="b" t="t" l="l"/>
            <a:pathLst>
              <a:path h="344108" w="332064">
                <a:moveTo>
                  <a:pt x="0" y="0"/>
                </a:moveTo>
                <a:lnTo>
                  <a:pt x="332064" y="0"/>
                </a:lnTo>
                <a:lnTo>
                  <a:pt x="332064" y="344108"/>
                </a:lnTo>
                <a:lnTo>
                  <a:pt x="0" y="3441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488044" y="7450250"/>
            <a:ext cx="332064" cy="344108"/>
          </a:xfrm>
          <a:custGeom>
            <a:avLst/>
            <a:gdLst/>
            <a:ahLst/>
            <a:cxnLst/>
            <a:rect r="r" b="b" t="t" l="l"/>
            <a:pathLst>
              <a:path h="344108" w="332064">
                <a:moveTo>
                  <a:pt x="0" y="0"/>
                </a:moveTo>
                <a:lnTo>
                  <a:pt x="332064" y="0"/>
                </a:lnTo>
                <a:lnTo>
                  <a:pt x="332064" y="344108"/>
                </a:lnTo>
                <a:lnTo>
                  <a:pt x="0" y="3441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5E5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1047750"/>
            <a:ext cx="18288000" cy="0"/>
          </a:xfrm>
          <a:prstGeom prst="line">
            <a:avLst/>
          </a:prstGeom>
          <a:ln cap="flat" w="38100">
            <a:solidFill>
              <a:srgbClr val="12121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654076" y="9258300"/>
            <a:ext cx="979847" cy="195969"/>
          </a:xfrm>
          <a:custGeom>
            <a:avLst/>
            <a:gdLst/>
            <a:ahLst/>
            <a:cxnLst/>
            <a:rect r="r" b="b" t="t" l="l"/>
            <a:pathLst>
              <a:path h="195969" w="979847">
                <a:moveTo>
                  <a:pt x="0" y="0"/>
                </a:moveTo>
                <a:lnTo>
                  <a:pt x="979848" y="0"/>
                </a:lnTo>
                <a:lnTo>
                  <a:pt x="979848" y="195969"/>
                </a:lnTo>
                <a:lnTo>
                  <a:pt x="0" y="19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7795" y="1228753"/>
            <a:ext cx="8745816" cy="1735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4"/>
              </a:lnSpc>
            </a:pPr>
            <a:r>
              <a:rPr lang="en-US" sz="6793" b="true">
                <a:solidFill>
                  <a:srgbClr val="121212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STA</a:t>
            </a:r>
            <a:r>
              <a:rPr lang="en-US" b="true" sz="6793">
                <a:solidFill>
                  <a:srgbClr val="121212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TUS, LIMITS, SCALE PATH</a:t>
            </a:r>
          </a:p>
        </p:txBody>
      </p:sp>
      <p:sp>
        <p:nvSpPr>
          <p:cNvPr name="Freeform 5" id="5"/>
          <p:cNvSpPr/>
          <p:nvPr/>
        </p:nvSpPr>
        <p:spPr>
          <a:xfrm flipH="false" flipV="true" rot="-5400000">
            <a:off x="8012678" y="1280576"/>
            <a:ext cx="801752" cy="801752"/>
          </a:xfrm>
          <a:custGeom>
            <a:avLst/>
            <a:gdLst/>
            <a:ahLst/>
            <a:cxnLst/>
            <a:rect r="r" b="b" t="t" l="l"/>
            <a:pathLst>
              <a:path h="801752" w="801752">
                <a:moveTo>
                  <a:pt x="0" y="801752"/>
                </a:moveTo>
                <a:lnTo>
                  <a:pt x="801751" y="801752"/>
                </a:lnTo>
                <a:lnTo>
                  <a:pt x="801751" y="0"/>
                </a:lnTo>
                <a:lnTo>
                  <a:pt x="0" y="0"/>
                </a:lnTo>
                <a:lnTo>
                  <a:pt x="0" y="80175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59087" y="4755431"/>
            <a:ext cx="6758350" cy="4393864"/>
          </a:xfrm>
          <a:custGeom>
            <a:avLst/>
            <a:gdLst/>
            <a:ahLst/>
            <a:cxnLst/>
            <a:rect r="r" b="b" t="t" l="l"/>
            <a:pathLst>
              <a:path h="4393864" w="6758350">
                <a:moveTo>
                  <a:pt x="0" y="0"/>
                </a:moveTo>
                <a:lnTo>
                  <a:pt x="6758350" y="0"/>
                </a:lnTo>
                <a:lnTo>
                  <a:pt x="6758350" y="4393864"/>
                </a:lnTo>
                <a:lnTo>
                  <a:pt x="0" y="43938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1937" t="-61745" r="-41649" b="-26508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759087" y="3174027"/>
            <a:ext cx="6758350" cy="1280555"/>
          </a:xfrm>
          <a:custGeom>
            <a:avLst/>
            <a:gdLst/>
            <a:ahLst/>
            <a:cxnLst/>
            <a:rect r="r" b="b" t="t" l="l"/>
            <a:pathLst>
              <a:path h="1280555" w="6758350">
                <a:moveTo>
                  <a:pt x="0" y="0"/>
                </a:moveTo>
                <a:lnTo>
                  <a:pt x="6758350" y="0"/>
                </a:lnTo>
                <a:lnTo>
                  <a:pt x="6758350" y="1280556"/>
                </a:lnTo>
                <a:lnTo>
                  <a:pt x="0" y="12805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1937" t="-124705" r="-41649" b="-421236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52744" y="3174027"/>
            <a:ext cx="2862881" cy="6427451"/>
          </a:xfrm>
          <a:custGeom>
            <a:avLst/>
            <a:gdLst/>
            <a:ahLst/>
            <a:cxnLst/>
            <a:rect r="r" b="b" t="t" l="l"/>
            <a:pathLst>
              <a:path h="6427451" w="2862881">
                <a:moveTo>
                  <a:pt x="0" y="0"/>
                </a:moveTo>
                <a:lnTo>
                  <a:pt x="2862880" y="0"/>
                </a:lnTo>
                <a:lnTo>
                  <a:pt x="2862880" y="6427451"/>
                </a:lnTo>
                <a:lnTo>
                  <a:pt x="0" y="64274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999" t="-10570" r="-331391" b="-18121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704554" y="3174027"/>
            <a:ext cx="2932793" cy="6422299"/>
          </a:xfrm>
          <a:custGeom>
            <a:avLst/>
            <a:gdLst/>
            <a:ahLst/>
            <a:cxnLst/>
            <a:rect r="r" b="b" t="t" l="l"/>
            <a:pathLst>
              <a:path h="6422299" w="2932793">
                <a:moveTo>
                  <a:pt x="0" y="0"/>
                </a:moveTo>
                <a:lnTo>
                  <a:pt x="2932792" y="0"/>
                </a:lnTo>
                <a:lnTo>
                  <a:pt x="2932792" y="6422299"/>
                </a:lnTo>
                <a:lnTo>
                  <a:pt x="0" y="64222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22333" t="-10659" r="-726" b="-18136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405158" y="6006077"/>
            <a:ext cx="1353929" cy="379100"/>
          </a:xfrm>
          <a:custGeom>
            <a:avLst/>
            <a:gdLst/>
            <a:ahLst/>
            <a:cxnLst/>
            <a:rect r="r" b="b" t="t" l="l"/>
            <a:pathLst>
              <a:path h="379100" w="1353929">
                <a:moveTo>
                  <a:pt x="0" y="0"/>
                </a:moveTo>
                <a:lnTo>
                  <a:pt x="1353929" y="0"/>
                </a:lnTo>
                <a:lnTo>
                  <a:pt x="1353929" y="379100"/>
                </a:lnTo>
                <a:lnTo>
                  <a:pt x="0" y="3791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2497135">
            <a:off x="11972551" y="3898576"/>
            <a:ext cx="1089773" cy="1112013"/>
          </a:xfrm>
          <a:custGeom>
            <a:avLst/>
            <a:gdLst/>
            <a:ahLst/>
            <a:cxnLst/>
            <a:rect r="r" b="b" t="t" l="l"/>
            <a:pathLst>
              <a:path h="1112013" w="1089773">
                <a:moveTo>
                  <a:pt x="0" y="0"/>
                </a:moveTo>
                <a:lnTo>
                  <a:pt x="1089772" y="0"/>
                </a:lnTo>
                <a:lnTo>
                  <a:pt x="1089772" y="1112013"/>
                </a:lnTo>
                <a:lnTo>
                  <a:pt x="0" y="11120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517437" y="6066195"/>
            <a:ext cx="1187117" cy="332393"/>
          </a:xfrm>
          <a:custGeom>
            <a:avLst/>
            <a:gdLst/>
            <a:ahLst/>
            <a:cxnLst/>
            <a:rect r="r" b="b" t="t" l="l"/>
            <a:pathLst>
              <a:path h="332393" w="1187117">
                <a:moveTo>
                  <a:pt x="0" y="0"/>
                </a:moveTo>
                <a:lnTo>
                  <a:pt x="1187117" y="0"/>
                </a:lnTo>
                <a:lnTo>
                  <a:pt x="1187117" y="332393"/>
                </a:lnTo>
                <a:lnTo>
                  <a:pt x="0" y="3323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6048863" y="5012784"/>
            <a:ext cx="683759" cy="186071"/>
            <a:chOff x="0" y="0"/>
            <a:chExt cx="146235" cy="3979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235" cy="39795"/>
            </a:xfrm>
            <a:custGeom>
              <a:avLst/>
              <a:gdLst/>
              <a:ahLst/>
              <a:cxnLst/>
              <a:rect r="r" b="b" t="t" l="l"/>
              <a:pathLst>
                <a:path h="39795" w="146235">
                  <a:moveTo>
                    <a:pt x="0" y="0"/>
                  </a:moveTo>
                  <a:lnTo>
                    <a:pt x="146235" y="0"/>
                  </a:lnTo>
                  <a:lnTo>
                    <a:pt x="146235" y="39795"/>
                  </a:lnTo>
                  <a:lnTo>
                    <a:pt x="0" y="39795"/>
                  </a:ln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46235" cy="397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60"/>
                </a:lnSpc>
              </a:pPr>
              <a:r>
                <a:rPr lang="en-US" b="true" sz="4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LOCATION SYNC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111" r="0" b="-9111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1047750"/>
            <a:ext cx="18288000" cy="0"/>
          </a:xfrm>
          <a:prstGeom prst="line">
            <a:avLst/>
          </a:prstGeom>
          <a:ln cap="flat" w="38100">
            <a:solidFill>
              <a:srgbClr val="E5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654076" y="8935107"/>
            <a:ext cx="979847" cy="195969"/>
          </a:xfrm>
          <a:custGeom>
            <a:avLst/>
            <a:gdLst/>
            <a:ahLst/>
            <a:cxnLst/>
            <a:rect r="r" b="b" t="t" l="l"/>
            <a:pathLst>
              <a:path h="195969" w="979847">
                <a:moveTo>
                  <a:pt x="0" y="0"/>
                </a:moveTo>
                <a:lnTo>
                  <a:pt x="979848" y="0"/>
                </a:lnTo>
                <a:lnTo>
                  <a:pt x="979848" y="195969"/>
                </a:lnTo>
                <a:lnTo>
                  <a:pt x="0" y="1959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097749"/>
            <a:ext cx="13265762" cy="6205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78"/>
              </a:lnSpc>
            </a:pPr>
            <a:r>
              <a:rPr lang="en-US" sz="24327" b="true">
                <a:solidFill>
                  <a:srgbClr val="E5E5E5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THANK YOU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294462" y="2317636"/>
            <a:ext cx="1063799" cy="1102382"/>
          </a:xfrm>
          <a:custGeom>
            <a:avLst/>
            <a:gdLst/>
            <a:ahLst/>
            <a:cxnLst/>
            <a:rect r="r" b="b" t="t" l="l"/>
            <a:pathLst>
              <a:path h="1102382" w="1063799">
                <a:moveTo>
                  <a:pt x="0" y="0"/>
                </a:moveTo>
                <a:lnTo>
                  <a:pt x="1063799" y="0"/>
                </a:lnTo>
                <a:lnTo>
                  <a:pt x="1063799" y="1102382"/>
                </a:lnTo>
                <a:lnTo>
                  <a:pt x="0" y="11023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263203" y="7901282"/>
            <a:ext cx="5761594" cy="804537"/>
            <a:chOff x="0" y="0"/>
            <a:chExt cx="7682125" cy="1072716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7682125" cy="1072716"/>
              <a:chOff x="0" y="0"/>
              <a:chExt cx="1517457" cy="211895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517457" cy="211895"/>
              </a:xfrm>
              <a:custGeom>
                <a:avLst/>
                <a:gdLst/>
                <a:ahLst/>
                <a:cxnLst/>
                <a:rect r="r" b="b" t="t" l="l"/>
                <a:pathLst>
                  <a:path h="211895" w="1517457">
                    <a:moveTo>
                      <a:pt x="105947" y="0"/>
                    </a:moveTo>
                    <a:lnTo>
                      <a:pt x="1411509" y="0"/>
                    </a:lnTo>
                    <a:cubicBezTo>
                      <a:pt x="1439608" y="0"/>
                      <a:pt x="1466557" y="11162"/>
                      <a:pt x="1486426" y="31031"/>
                    </a:cubicBezTo>
                    <a:cubicBezTo>
                      <a:pt x="1506294" y="50900"/>
                      <a:pt x="1517457" y="77848"/>
                      <a:pt x="1517457" y="105947"/>
                    </a:cubicBezTo>
                    <a:lnTo>
                      <a:pt x="1517457" y="105947"/>
                    </a:lnTo>
                    <a:cubicBezTo>
                      <a:pt x="1517457" y="134046"/>
                      <a:pt x="1506294" y="160994"/>
                      <a:pt x="1486426" y="180863"/>
                    </a:cubicBezTo>
                    <a:cubicBezTo>
                      <a:pt x="1466557" y="200732"/>
                      <a:pt x="1439608" y="211895"/>
                      <a:pt x="1411509" y="211895"/>
                    </a:cubicBezTo>
                    <a:lnTo>
                      <a:pt x="105947" y="211895"/>
                    </a:lnTo>
                    <a:cubicBezTo>
                      <a:pt x="77848" y="211895"/>
                      <a:pt x="50900" y="200732"/>
                      <a:pt x="31031" y="180863"/>
                    </a:cubicBezTo>
                    <a:cubicBezTo>
                      <a:pt x="11162" y="160994"/>
                      <a:pt x="0" y="134046"/>
                      <a:pt x="0" y="105947"/>
                    </a:cubicBezTo>
                    <a:lnTo>
                      <a:pt x="0" y="105947"/>
                    </a:lnTo>
                    <a:cubicBezTo>
                      <a:pt x="0" y="77848"/>
                      <a:pt x="11162" y="50900"/>
                      <a:pt x="31031" y="31031"/>
                    </a:cubicBezTo>
                    <a:cubicBezTo>
                      <a:pt x="50900" y="11162"/>
                      <a:pt x="77848" y="0"/>
                      <a:pt x="105947" y="0"/>
                    </a:cubicBezTo>
                    <a:close/>
                  </a:path>
                </a:pathLst>
              </a:custGeom>
              <a:ln w="38100" cap="rnd">
                <a:solidFill>
                  <a:srgbClr val="E5E5E5"/>
                </a:solidFill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517457" cy="2499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791438" y="127221"/>
              <a:ext cx="6099248" cy="7516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9"/>
                </a:lnSpc>
              </a:pPr>
              <a:r>
                <a:rPr lang="en-US" sz="3399" spc="-91">
                  <a:solidFill>
                    <a:srgbClr val="E5E5E5"/>
                  </a:solidFill>
                  <a:latin typeface="Arial Nova Condensed"/>
                  <a:ea typeface="Arial Nova Condensed"/>
                  <a:cs typeface="Arial Nova Condensed"/>
                  <a:sym typeface="Arial Nova Condensed"/>
                </a:rPr>
                <a:t>TEAM TRACE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DAHVyurUtRM</dc:identifier>
  <dcterms:modified xsi:type="dcterms:W3CDTF">2011-08-01T06:04:30Z</dcterms:modified>
  <cp:revision>1</cp:revision>
  <dc:title>Geoc ast</dc:title>
</cp:coreProperties>
</file>